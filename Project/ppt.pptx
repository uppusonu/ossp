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1.png"/><Relationship Id="rId3" Type="http://schemas.openxmlformats.org/officeDocument/2006/relationships/image" Target="../media/image-3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22476" y="1051560"/>
            <a:ext cx="9144000" cy="4251960"/>
          </a:xfrm>
          <a:prstGeom prst="roundRect">
            <a:avLst>
              <a:gd name="adj" fmla="val 215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77800" dist="63500" dir="5400000">
              <a:srgbClr val="000000">
                <a:alpha val="35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1815084" y="1289304"/>
            <a:ext cx="137160" cy="137160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2052828" y="1289304"/>
            <a:ext cx="137160" cy="137160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2290572" y="1289304"/>
            <a:ext cx="137160" cy="137160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79676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user@ossp:~$ ./start_presentation.sh --topic linux-debugging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79676" y="219456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Debugging</a:t>
            </a:r>
            <a:endParaRPr lang="en-US" sz="42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F08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Techniques</a:t>
            </a:r>
            <a:endParaRPr lang="en-US" sz="4200" dirty="0"/>
          </a:p>
        </p:txBody>
      </p:sp>
      <p:sp>
        <p:nvSpPr>
          <p:cNvPr id="8" name="Text 6"/>
          <p:cNvSpPr txBox="1"/>
          <p:nvPr/>
        </p:nvSpPr>
        <p:spPr>
          <a:xfrm>
            <a:off x="1979676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to diagnosing and resolving system &amp; application issues on Linux.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979676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user@ossp:~$ _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42916" y="5623560"/>
            <a:ext cx="2103120" cy="438912"/>
          </a:xfrm>
          <a:prstGeom prst="roundRect">
            <a:avLst>
              <a:gd name="adj" fmla="val 50000"/>
            </a:avLst>
          </a:prstGeom>
          <a:solidFill>
            <a:srgbClr val="F088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42916" y="562356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48640" cy="5486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5" name="Image 0" descr="/home/claude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288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Fundamentals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417320" y="20756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mindset and process behind finding root causes.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548640" cy="5486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9" name="Image 1" descr="/home/claude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832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17320" y="3200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Bug Categories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1417320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usual suspects behind Linux system failures.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800600"/>
            <a:ext cx="548640" cy="5486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3" name="Image 2" descr="/home/claude/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377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4754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Debugging Toolbox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1417320" y="51846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tools to the layer where a bug lives.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0" y="1691640"/>
            <a:ext cx="548640" cy="5486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17" name="Image 3" descr="/home/claude/icons/microscop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82880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78040" y="16459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GDB: Source-Level Debugging</a:t>
            </a:r>
            <a:endParaRPr lang="en-US" sz="1700" dirty="0"/>
          </a:p>
        </p:txBody>
      </p:sp>
      <p:sp>
        <p:nvSpPr>
          <p:cNvPr id="19" name="Text 13"/>
          <p:cNvSpPr txBox="1"/>
          <p:nvPr/>
        </p:nvSpPr>
        <p:spPr>
          <a:xfrm>
            <a:off x="7178040" y="20756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Stepping through code and inspecting state.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0" y="3246120"/>
            <a:ext cx="548640" cy="5486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21" name="Image 4" descr="/home/claude/icons/networ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3832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178040" y="32004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&amp; Memory Tools</a:t>
            </a:r>
            <a:endParaRPr lang="en-US" sz="1700" dirty="0"/>
          </a:p>
        </p:txBody>
      </p:sp>
      <p:sp>
        <p:nvSpPr>
          <p:cNvPr id="23" name="Text 16"/>
          <p:cNvSpPr txBox="1"/>
          <p:nvPr/>
        </p:nvSpPr>
        <p:spPr>
          <a:xfrm>
            <a:off x="7178040" y="363016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strace, ltrace, and Valgrind in action.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400800" y="4800600"/>
            <a:ext cx="548640" cy="548640"/>
          </a:xfrm>
          <a:prstGeom prst="ellipse">
            <a:avLst/>
          </a:prstGeom>
          <a:solidFill>
            <a:srgbClr val="0D1117"/>
          </a:solidFill>
          <a:ln/>
        </p:spPr>
      </p:sp>
      <p:pic>
        <p:nvPicPr>
          <p:cNvPr id="25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93776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8040" y="47548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Logs, Performance &amp; Best Practices</a:t>
            </a:r>
            <a:endParaRPr lang="en-US" sz="1700" dirty="0"/>
          </a:p>
        </p:txBody>
      </p:sp>
      <p:sp>
        <p:nvSpPr>
          <p:cNvPr id="27" name="Text 19"/>
          <p:cNvSpPr txBox="1"/>
          <p:nvPr/>
        </p:nvSpPr>
        <p:spPr>
          <a:xfrm>
            <a:off x="7178040" y="518464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tools and habits that save time.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Debugging?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is the systematic process of locating, understanding, and resolving defects that cause software or systems to behave unexpectedly. On Linux, that often means tracing a problem from application code down through libraries, system calls, and kernel behavior.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3502152"/>
            <a:ext cx="219456" cy="2194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374136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systematic — follow a repeatable process, not guesswork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4087368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9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4160520"/>
            <a:ext cx="219456" cy="21945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4032504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assumptions — verify what you think is true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4745736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2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18888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88720" y="469087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before you fix — an unreliable repro wastes time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903720" y="2011680"/>
            <a:ext cx="0" cy="3977640"/>
          </a:xfrm>
          <a:prstGeom prst="line">
            <a:avLst/>
          </a:prstGeom>
          <a:noFill/>
          <a:ln w="25400">
            <a:solidFill>
              <a:srgbClr val="E1E4E8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675120" y="178308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6751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0" y="152704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Recreate the issue reliably, every time</a:t>
            </a:r>
            <a:endParaRPr lang="en-US" sz="1500" dirty="0"/>
          </a:p>
        </p:txBody>
      </p:sp>
      <p:sp>
        <p:nvSpPr>
          <p:cNvPr id="18" name="Shape 13"/>
          <p:cNvSpPr/>
          <p:nvPr/>
        </p:nvSpPr>
        <p:spPr>
          <a:xfrm>
            <a:off x="6675120" y="28346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67512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0" y="257860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down the affected component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6675120" y="388620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2" name="Text 17"/>
          <p:cNvSpPr txBox="1"/>
          <p:nvPr/>
        </p:nvSpPr>
        <p:spPr>
          <a:xfrm>
            <a:off x="667512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7315200" y="363016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Hypothesize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a theory about the root cause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675120" y="493776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6675120" y="4937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1"/>
          <p:cNvSpPr txBox="1"/>
          <p:nvPr/>
        </p:nvSpPr>
        <p:spPr>
          <a:xfrm>
            <a:off x="7315200" y="468172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 or reject it with the right tool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6675120" y="598932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6675120" y="5989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7315200" y="5733288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 &amp; Verify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6E77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Apply the fix and confirm resolution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31" name="Text 26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Bug Categories in Linux Systems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2904" cy="2148840"/>
          </a:xfrm>
          <a:prstGeom prst="roundRect">
            <a:avLst>
              <a:gd name="adj" fmla="val 383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1856232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6" name="Image 0" descr="/home/claude/icons/bu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1842" y="1981962"/>
            <a:ext cx="251460" cy="2514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51460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Faults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2898648"/>
            <a:ext cx="291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memory access causes the OS to terminate the process (SIGSEGV).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024" y="1600200"/>
            <a:ext cx="3422904" cy="2148840"/>
          </a:xfrm>
          <a:prstGeom prst="roundRect">
            <a:avLst>
              <a:gd name="adj" fmla="val 383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39056" y="1856232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1" name="Image 1" descr="/home/claude/icons/mem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786" y="1981962"/>
            <a:ext cx="251460" cy="2514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39056" y="251460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Leaks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4639056" y="2898648"/>
            <a:ext cx="291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Allocated memory is never freed, gradually exhausting available RAM.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5968" y="1600200"/>
            <a:ext cx="3422904" cy="2148840"/>
          </a:xfrm>
          <a:prstGeom prst="roundRect">
            <a:avLst>
              <a:gd name="adj" fmla="val 383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82000" y="1856232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6" name="Image 2" descr="/home/claude/icons/rando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730" y="1981962"/>
            <a:ext cx="251460" cy="2514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82000" y="251460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Race Conditions &amp; Deadlocks</a:t>
            </a:r>
            <a:endParaRPr lang="en-US" sz="1450" dirty="0"/>
          </a:p>
        </p:txBody>
      </p:sp>
      <p:sp>
        <p:nvSpPr>
          <p:cNvPr id="18" name="Text 13"/>
          <p:cNvSpPr txBox="1"/>
          <p:nvPr/>
        </p:nvSpPr>
        <p:spPr>
          <a:xfrm>
            <a:off x="8382000" y="2898648"/>
            <a:ext cx="291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threads interact unpredictably or wait on each other forever.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2904" cy="2148840"/>
          </a:xfrm>
          <a:prstGeom prst="roundRect">
            <a:avLst>
              <a:gd name="adj" fmla="val 383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96112" y="4325112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21" name="Image 3" descr="/home/claude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1842" y="4450842"/>
            <a:ext cx="251460" cy="2514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96112" y="498348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Failed System Calls</a:t>
            </a:r>
            <a:endParaRPr lang="en-US" sz="1450" dirty="0"/>
          </a:p>
        </p:txBody>
      </p:sp>
      <p:sp>
        <p:nvSpPr>
          <p:cNvPr id="23" name="Text 17"/>
          <p:cNvSpPr txBox="1"/>
          <p:nvPr/>
        </p:nvSpPr>
        <p:spPr>
          <a:xfrm>
            <a:off x="896112" y="5367528"/>
            <a:ext cx="291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I/O, network, or resource calls return errors that go unchecked.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3024" y="4069080"/>
            <a:ext cx="3422904" cy="2148840"/>
          </a:xfrm>
          <a:prstGeom prst="roundRect">
            <a:avLst>
              <a:gd name="adj" fmla="val 383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639056" y="4325112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26" name="Image 4" descr="/home/claude/icons/tachome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786" y="4450842"/>
            <a:ext cx="251460" cy="2514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639056" y="498348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 Exhaustion</a:t>
            </a:r>
            <a:endParaRPr lang="en-US" sz="1450" dirty="0"/>
          </a:p>
        </p:txBody>
      </p:sp>
      <p:sp>
        <p:nvSpPr>
          <p:cNvPr id="28" name="Text 21"/>
          <p:cNvSpPr txBox="1"/>
          <p:nvPr/>
        </p:nvSpPr>
        <p:spPr>
          <a:xfrm>
            <a:off x="4639056" y="5367528"/>
            <a:ext cx="291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memory, or file-descriptor limits are hit under real load.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5968" y="4069080"/>
            <a:ext cx="3422904" cy="2148840"/>
          </a:xfrm>
          <a:prstGeom prst="roundRect">
            <a:avLst>
              <a:gd name="adj" fmla="val 3830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82000" y="4325112"/>
            <a:ext cx="502920" cy="502920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31" name="Image 5" descr="/home/claude/icons/ke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7730" y="4450842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82000" y="4983480"/>
            <a:ext cx="2910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&amp; Config Errors</a:t>
            </a:r>
            <a:endParaRPr lang="en-US" sz="1450" dirty="0"/>
          </a:p>
        </p:txBody>
      </p:sp>
      <p:sp>
        <p:nvSpPr>
          <p:cNvPr id="33" name="Text 25"/>
          <p:cNvSpPr txBox="1"/>
          <p:nvPr/>
        </p:nvSpPr>
        <p:spPr>
          <a:xfrm>
            <a:off x="8382000" y="5367528"/>
            <a:ext cx="2910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file permissions or environment setup block execution.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Linux Debugging Toolbox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the right tool to the right layer of the problem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96619" y="2560320"/>
            <a:ext cx="868680" cy="8686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5" name="Image 0" descr="/home/claude/icons/microsc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2476" y="2786177"/>
            <a:ext cx="416966" cy="41696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361188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Source-Level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02336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gdb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78378" y="2560320"/>
            <a:ext cx="868680" cy="8686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9" name="Image 1" descr="/home/claude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4234" y="2786177"/>
            <a:ext cx="416966" cy="41696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13278" y="361188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2913278" y="402336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strace, ltrace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660136" y="2560320"/>
            <a:ext cx="868680" cy="8686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3" name="Image 2" descr="/home/claude/icons/mem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993" y="2786177"/>
            <a:ext cx="416966" cy="41696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95037" y="361188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5095037" y="402336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valgrind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7841894" y="2560320"/>
            <a:ext cx="868680" cy="8686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7" name="Image 3" descr="/home/claude/icons/f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7751" y="2786177"/>
            <a:ext cx="416966" cy="41696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76795" y="361188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7276795" y="402336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dmesg, journalctl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10023653" y="2560320"/>
            <a:ext cx="868680" cy="8686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1" name="Image 4" descr="/home/claude/icons/tachomet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510" y="2786177"/>
            <a:ext cx="416966" cy="41696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58554" y="361188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9458554" y="4023360"/>
            <a:ext cx="19988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top, htop, perf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source code to kernel — pick the tool that matches where the bug lives.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SOURCE-LEVEL DEBUGGING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GDB — The GNU Debugger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GDB lets you pause a running program, step through code line by line, and inspect variables and memory — ideal for crashes, logic errors, and unexpected state.</a:t>
            </a:r>
            <a:endParaRPr lang="en-US" sz="13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97480"/>
          <a:ext cx="5212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74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break &lt;loc&gt;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E7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a breakpoint at a line or 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run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E7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the program under GDB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next / step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E7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Execute line-by-line (step enters calls)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 &lt;var&gt;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E7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a variable's current 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backtrace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E7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the current call stack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32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continue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E77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Resume until the next breakpoint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336792" y="1600200"/>
            <a:ext cx="5212080" cy="4709160"/>
          </a:xfrm>
          <a:prstGeom prst="roundRect">
            <a:avLst>
              <a:gd name="adj" fmla="val 17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611112" y="181965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6830568" y="181965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7050024" y="181965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629400" y="2103120"/>
            <a:ext cx="46268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gdb ./myapp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break main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 1 at 0x4005a6: file app.c, line 12.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run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Starting program: /home/user/myapp 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Breakpoint 1, main () at app.c:12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print count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$1 = 0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backtrace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#0  main () at app.c:12</a:t>
            </a:r>
            <a:endParaRPr lang="en-US" sz="12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(gdb) _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 &amp; LTRACE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Tracing System &amp; Library Calls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94376" cy="4251960"/>
          </a:xfrm>
          <a:prstGeom prst="roundRect">
            <a:avLst>
              <a:gd name="adj" fmla="val 1935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6" name="Image 0" descr="/home/claude/icons/netwo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0345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737360" y="1938528"/>
            <a:ext cx="3922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strace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4320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the system calls exchanged between your program and the Linux kernel.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60120" y="3703320"/>
            <a:ext cx="4654296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43000" y="3703320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-f ./app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443484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736592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failed file access, network calls, or permission errors.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54496" y="1554480"/>
            <a:ext cx="5294376" cy="4251960"/>
          </a:xfrm>
          <a:prstGeom prst="roundRect">
            <a:avLst>
              <a:gd name="adj" fmla="val 1935"/>
            </a:avLst>
          </a:prstGeom>
          <a:solidFill>
            <a:srgbClr val="F6F8FA"/>
          </a:solidFill>
          <a:ln/>
          <a:effectLst>
            <a:outerShdw sx="100000" sy="100000" kx="0" ky="0" algn="bl" rotWithShape="0" blurRad="76200" dist="25400" dir="5400000">
              <a:srgbClr val="1B1F24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74536" y="1874520"/>
            <a:ext cx="640080" cy="64008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5" name="Image 1" descr="/home/claude/icons/microsc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4556" y="20345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351776" y="1938528"/>
            <a:ext cx="39227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ltrace</a:t>
            </a:r>
            <a:endParaRPr lang="en-US" sz="2200" dirty="0"/>
          </a:p>
        </p:txBody>
      </p:sp>
      <p:sp>
        <p:nvSpPr>
          <p:cNvPr id="17" name="Text 13"/>
          <p:cNvSpPr txBox="1"/>
          <p:nvPr/>
        </p:nvSpPr>
        <p:spPr>
          <a:xfrm>
            <a:off x="6574536" y="2743200"/>
            <a:ext cx="46542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 the calls your program makes into shared and dynamic libraries (e.g. libc).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574536" y="3703320"/>
            <a:ext cx="4654296" cy="502920"/>
          </a:xfrm>
          <a:prstGeom prst="roundRect">
            <a:avLst>
              <a:gd name="adj" fmla="val 10909"/>
            </a:avLst>
          </a:prstGeom>
          <a:solidFill>
            <a:srgbClr val="0D111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757416" y="3703320"/>
            <a:ext cx="4288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 ./app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574536" y="443484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WHEN</a:t>
            </a:r>
            <a:endParaRPr lang="en-US" sz="1100" dirty="0"/>
          </a:p>
        </p:txBody>
      </p:sp>
      <p:sp>
        <p:nvSpPr>
          <p:cNvPr id="21" name="Text 17"/>
          <p:cNvSpPr txBox="1"/>
          <p:nvPr/>
        </p:nvSpPr>
        <p:spPr>
          <a:xfrm>
            <a:off x="6574536" y="4736592"/>
            <a:ext cx="4654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unexpected library behavior or missing symbols.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strace and ltrace show what a program is really doing beneath the source code.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DEBUGGING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Memory Bugs with Valgrind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Valgrind runs a program on a virtual CPU, checking every memory access for correctness — no recompilation required.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6060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CATCHES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3017520"/>
            <a:ext cx="329184" cy="32918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7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" y="3091586"/>
            <a:ext cx="181051" cy="18105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94436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leaks — allocated blocks that are never freed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3639312"/>
            <a:ext cx="329184" cy="32918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0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" y="3713378"/>
            <a:ext cx="181051" cy="18105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43000" y="3566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reads / writes — buffer overruns and underruns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40080" y="4261104"/>
            <a:ext cx="329184" cy="32918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3" name="Image 2" descr="/home/claude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" y="4335170"/>
            <a:ext cx="181051" cy="18105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43000" y="4187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Use-after-free — accessing memory already released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4882896"/>
            <a:ext cx="329184" cy="329184"/>
          </a:xfrm>
          <a:prstGeom prst="ellipse">
            <a:avLst/>
          </a:prstGeom>
          <a:solidFill>
            <a:srgbClr val="F0883E"/>
          </a:solidFill>
          <a:ln/>
        </p:spPr>
      </p:sp>
      <p:pic>
        <p:nvPicPr>
          <p:cNvPr id="16" name="Image 3" descr="/home/claude/icons/warn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4956962"/>
            <a:ext cx="181051" cy="181051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48097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Uninitialized memory — reading values before they are set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336792" y="1600200"/>
            <a:ext cx="5212080" cy="4709160"/>
          </a:xfrm>
          <a:prstGeom prst="roundRect">
            <a:avLst>
              <a:gd name="adj" fmla="val 17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611112" y="181965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0" name="Shape 14"/>
          <p:cNvSpPr/>
          <p:nvPr/>
        </p:nvSpPr>
        <p:spPr>
          <a:xfrm>
            <a:off x="6830568" y="181965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1" name="Shape 15"/>
          <p:cNvSpPr/>
          <p:nvPr/>
        </p:nvSpPr>
        <p:spPr>
          <a:xfrm>
            <a:off x="7050024" y="181965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629400" y="2103120"/>
            <a:ext cx="4626864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valgrind --leak-check=full ./app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HEAP SUMMARY: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    in use at exit: 40 bytes in 1 blocks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  total heap usage: 2 allocs, 1 frees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b="1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40 bytes in 1 blocks are definitely lost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   at 0x4C2FB0E: malloc (vg_replace.c:299)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   by 0x4006B2: main (app.c:8)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LEAK SUMMARY: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F088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==12345==    definitely lost: 40 bytes in 1 blocks</a:t>
            </a:r>
            <a:endParaRPr lang="en-US" sz="115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24" name="Text 18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 &amp; Performance Monitoring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28232" y="1554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7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2263140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25880" y="21122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dmesg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325880" y="24414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the kernel ring buffer — hardware, driver, and boot messages.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1" name="Image 1" descr="/home/claude/icons/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36347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34838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journalctl / var/log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8130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system and service logs managed by systemd.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5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500634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48554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/proc filesystem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51846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virtual window into kernel data and running processes.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28232" y="21488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19" name="Image 3" descr="/home/claude/icons/tachomet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2532" y="226314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114032" y="21122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/ htop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114032" y="24414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view of CPU, memory, and per-process resource use.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6428232" y="35204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3" name="Image 4" descr="/home/claude/icons/microsc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2532" y="3634740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114032" y="34838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7114032" y="38130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Kernel-level profiler for CPU counters and call-graph hotspots.</a:t>
            </a:r>
            <a:endParaRPr lang="en-US" sz="1200" dirty="0"/>
          </a:p>
        </p:txBody>
      </p:sp>
      <p:sp>
        <p:nvSpPr>
          <p:cNvPr id="26" name="Shape 19"/>
          <p:cNvSpPr/>
          <p:nvPr/>
        </p:nvSpPr>
        <p:spPr>
          <a:xfrm>
            <a:off x="6428232" y="4892040"/>
            <a:ext cx="457200" cy="45720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7" name="Image 5" descr="/home/claude/icons/memory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2532" y="500634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114032" y="4855464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vmstat / iostat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7114032" y="518464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 of system-wide memory, CPU, and disk I/O activity.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&amp; Summary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3268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workflow, and the habits that make it faster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56639" y="15087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456639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9456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 rot="5400000">
            <a:off x="2739542" y="1700784"/>
            <a:ext cx="164592" cy="164592"/>
          </a:xfrm>
          <a:prstGeom prst="triangle">
            <a:avLst/>
          </a:prstGeom>
          <a:solidFill>
            <a:srgbClr val="8B949E"/>
          </a:solidFill>
          <a:ln/>
        </p:spPr>
      </p:sp>
      <p:sp>
        <p:nvSpPr>
          <p:cNvPr id="8" name="Shape 6"/>
          <p:cNvSpPr/>
          <p:nvPr/>
        </p:nvSpPr>
        <p:spPr>
          <a:xfrm>
            <a:off x="3638398" y="15087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38398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913278" y="219456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 rot="5400000">
            <a:off x="4921301" y="1700784"/>
            <a:ext cx="164592" cy="164592"/>
          </a:xfrm>
          <a:prstGeom prst="triangle">
            <a:avLst/>
          </a:prstGeom>
          <a:solidFill>
            <a:srgbClr val="8B949E"/>
          </a:solidFill>
          <a:ln/>
        </p:spPr>
      </p:sp>
      <p:sp>
        <p:nvSpPr>
          <p:cNvPr id="12" name="Shape 10"/>
          <p:cNvSpPr/>
          <p:nvPr/>
        </p:nvSpPr>
        <p:spPr>
          <a:xfrm>
            <a:off x="5820156" y="15087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820156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095037" y="219456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Hypothesize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 rot="5400000">
            <a:off x="7103059" y="1700784"/>
            <a:ext cx="164592" cy="164592"/>
          </a:xfrm>
          <a:prstGeom prst="triangle">
            <a:avLst/>
          </a:prstGeom>
          <a:solidFill>
            <a:srgbClr val="8B949E"/>
          </a:solidFill>
          <a:ln/>
        </p:spPr>
      </p:sp>
      <p:sp>
        <p:nvSpPr>
          <p:cNvPr id="16" name="Shape 14"/>
          <p:cNvSpPr/>
          <p:nvPr/>
        </p:nvSpPr>
        <p:spPr>
          <a:xfrm>
            <a:off x="8001914" y="15087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001914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276795" y="219456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 rot="5400000">
            <a:off x="9284818" y="1700784"/>
            <a:ext cx="164592" cy="164592"/>
          </a:xfrm>
          <a:prstGeom prst="triangle">
            <a:avLst/>
          </a:prstGeom>
          <a:solidFill>
            <a:srgbClr val="8B949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183673" y="1508760"/>
            <a:ext cx="548640" cy="54864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183673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458554" y="219456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219956" y="2697480"/>
            <a:ext cx="292608" cy="292608"/>
          </a:xfrm>
          <a:prstGeom prst="ellipse">
            <a:avLst/>
          </a:prstGeom>
          <a:solidFill>
            <a:srgbClr val="161B22"/>
          </a:solidFill>
          <a:ln/>
        </p:spPr>
      </p:sp>
      <p:pic>
        <p:nvPicPr>
          <p:cNvPr id="24" name="Image 0" descr="/home/claude/icons/syn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8478" y="2756002"/>
            <a:ext cx="175565" cy="17556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4631436" y="26791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 until the issue is fully resolved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0080" y="33375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6EDF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914400" y="384048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28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922776"/>
            <a:ext cx="201168" cy="201168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1417320" y="3749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error messages &amp; logs first — the answer is often already there.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63640" y="384048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31" name="Image 2" descr="/home/claude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3922776"/>
            <a:ext cx="201168" cy="201168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6766560" y="374904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variable at a time to isolate cause and effect.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914400" y="480060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34" name="Image 3" descr="/home/claude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882896"/>
            <a:ext cx="201168" cy="201168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417320" y="4709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version control to bisect regressions quickly.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263640" y="4800600"/>
            <a:ext cx="365760" cy="365760"/>
          </a:xfrm>
          <a:prstGeom prst="ellipse">
            <a:avLst/>
          </a:prstGeom>
          <a:solidFill>
            <a:srgbClr val="3FB950"/>
          </a:solidFill>
          <a:ln/>
        </p:spPr>
      </p:sp>
      <p:pic>
        <p:nvPicPr>
          <p:cNvPr id="37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4882896"/>
            <a:ext cx="201168" cy="201168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6766560" y="47091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reproduction — a flaky repro wastes hours.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40080" y="594360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08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40" name="Text 33"/>
          <p:cNvSpPr txBox="1"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OSSP  |  Linux Debugging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09167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2026-09-02T07:02:57Z</dcterms:created>
  <dcterms:modified xsi:type="dcterms:W3CDTF">2026-09-02T07:02:57Z</dcterms:modified>
</cp:coreProperties>
</file>